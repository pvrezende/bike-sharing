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4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Abertura, cerca de 30 segundos. Dizer: “Meu trabalho foi sobre o Bike Sharing Dataset. A ideia foi montar um fluxo completo, desde o CSV até o dashboard, usando o Apache Hop para fazer o ETL e o PostgreSQL para persistência.”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45 segundos. Explicar que é uma base pública da UCI, com dados por hora. Não precisa detalhar todas as colunas. Falar a pergunta principal e seguir para a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45 segundos. Dizer que o Docker ajuda a reproduzir o ambiente. A sequência principal é CSV, tratamento no Hop, gravação no banco, indicadores 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1min30. Abrir esse pipeline ao vivo. Apontar rapidamente cada transform. Fala natural: “Esse é o pipeline principal. Ele lê o hour.csv, padroniza, cria campos derivados, ordena e remove duplicados. No final faz UPSERT no PostgreSQL.” Não entrar em detalhes de cada coluna salvo se perguntarem.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Mostrar que esse pipeline é menor porque ele trabalha nos dados já tratados. Dizer que ele calcula os KPIs e grava na tabela bike_indicadores.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minuto. Mostrar o workflow e o log verde. Falar: “Eu criei o workflow para não precisar executar os pipelines manualmente. Ele espera o primeiro terminar, chama o segundo e no teste final chegou até SUCCESS.”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1min15. Essa é uma parte importante. Dizer que você reexecutou o processo e validou direto no PostgreSQL. Resultado: 17.379 registros, 17.379 instant distintos e zero duplicados. Quando o print do terminal estiver disponível, substituir o quadro PRINT PENDENTE por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1min30. Abrir o dashboard. Começar na Visão Geral e falar os quatro KPIs. Depois passar rapidamente por Demanda por Hora, Clima, Usuários e Período/Estação. Não gastar muito tempo em cada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45 segundos. Destacar só dois achados: pico às 17h e predominância de usuários registrados. Evitar inventar causa; falar que o horário é compatível com deslocamento de fim de expediente, mas apresentar isso como interpretação.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Fechamento, cerca de 30 a 45 segundos. Dizer: “No final eu consegui fechar o fluxo completo e validar a reexecução sem duplicidades. O principal aprendizado foi separar bem o papel do pipeline, do workflow, do banco e do dashboard.” Depois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Trabalho Final — Módulo 6 | Paulo Rezende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9FC"/>
                </a:solidFill>
              </a:rPr>
              <a:t>BIKE SHARING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7830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CC9F0"/>
                </a:solidFill>
              </a:rPr>
              <a:t>ETL, PostgreSQL e Dashboard com Apache Hop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0C0"/>
                </a:solidFill>
              </a:rPr>
              <a:t>Trabalho Final — Módulo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Paulo Rezende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430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  <a:effectLst>
            <a:outerShdw blurRad="1778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183880" y="151790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C9F0"/>
                </a:solidFill>
              </a:rPr>
              <a:t>Pergunta do projeto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3880" y="2029968"/>
            <a:ext cx="2743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9FC"/>
                </a:solidFill>
              </a:rPr>
              <a:t>Em quais horários, dias e condições climáticas ocorre maior ou menor demanda por bicicletas?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5138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CSV → Apache Hop → PostgreSQL →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63640" y="4069080"/>
            <a:ext cx="4892040" cy="1417320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4178808"/>
            <a:ext cx="45628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453128"/>
            <a:ext cx="4562855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“Meu projeto usa o Bike Sharing Dataset. A ideia foi montar o fluxo completo: ler o CSV, tratar no Apache Hop, gravar no PostgreSQL e apresentar os resultados em um dashboard.”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Dataset e problema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Fonte pública e pergunta que orientou a análise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5029200" cy="4069080"/>
          </a:xfrm>
          <a:prstGeom prst="roundRect">
            <a:avLst>
              <a:gd name="adj" fmla="val 1798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9FC"/>
                </a:solidFill>
              </a:rPr>
              <a:t>Bike Sharing Dataset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2062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Fonte: UCI Machine Learning Repository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Dados horários de aluguel de bicicletas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Informações de calendário e clima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17.379 registros utilizados no processo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8076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</a:rPr>
              <a:t>Pergunta principal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965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9FC"/>
                </a:solidFill>
              </a:rPr>
              <a:t>Quando a demanda por bicicletas é maior ou menor?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099048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7B0C0"/>
                </a:solidFill>
              </a:rPr>
              <a:t>A partir disso eu foquei em horário, clima, usuários e período/estação.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9048" y="4315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B0C0"/>
                </a:solidFill>
              </a:rPr>
              <a:t>Fonte usada no trabalho: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9048" y="46360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</a:rPr>
              <a:t>archive.ics.uci.edu/dataset/275/bike+sharing+dataset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080760" y="3703320"/>
            <a:ext cx="4800600" cy="1572768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5352" y="3813048"/>
            <a:ext cx="4471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087368"/>
            <a:ext cx="447141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“A pergunta que orientou a análise foi: quando a demanda por bicicletas é maior ou menor? Por isso eu observei horário, clima, usuários e período do ano.”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Arquitetura que eu montei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Fluxo simples para conseguir testar cada etapa separadamente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402336" cy="40233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" y="2066544"/>
            <a:ext cx="12618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7F9FC"/>
                </a:solidFill>
              </a:rPr>
              <a:t>CSV UCI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32888" y="2130552"/>
            <a:ext cx="347472" cy="292608"/>
          </a:xfrm>
          <a:prstGeom prst="chevron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834640" y="193852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907792" y="2084832"/>
            <a:ext cx="402336" cy="40233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907792" y="21214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92424" y="2066544"/>
            <a:ext cx="12618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7F9FC"/>
                </a:solidFill>
              </a:rPr>
              <a:t>Apache Hop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130552"/>
            <a:ext cx="347472" cy="292608"/>
          </a:xfrm>
          <a:prstGeom prst="chevron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102352" y="193852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175504" y="2084832"/>
            <a:ext cx="402336" cy="40233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175504" y="21214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0136" y="2066544"/>
            <a:ext cx="12618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7F9FC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68312" y="2130552"/>
            <a:ext cx="347472" cy="292608"/>
          </a:xfrm>
          <a:prstGeom prst="chevron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370064" y="193852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43216" y="2084832"/>
            <a:ext cx="402336" cy="40233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43216" y="21214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27848" y="2066544"/>
            <a:ext cx="12618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7F9FC"/>
                </a:solidFill>
              </a:rPr>
              <a:t>Indicadores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6024" y="2130552"/>
            <a:ext cx="347472" cy="292608"/>
          </a:xfrm>
          <a:prstGeom prst="chevron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637776" y="1938528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710928" y="2084832"/>
            <a:ext cx="402336" cy="40233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710928" y="21214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95560" y="2066544"/>
            <a:ext cx="12618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7F9FC"/>
                </a:solidFill>
              </a:rPr>
              <a:t>Dashboard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4400" y="3246120"/>
            <a:ext cx="10332720" cy="1508760"/>
          </a:xfrm>
          <a:prstGeom prst="roundRect">
            <a:avLst>
              <a:gd name="adj" fmla="val 4848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18872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</a:rPr>
              <a:t>Tecnologias usadas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Apache Hop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0C0"/>
                </a:solidFill>
              </a:rPr>
              <a:t>ETL e workflow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57600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0C0"/>
                </a:solidFill>
              </a:rPr>
              <a:t>Persistência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Streamlit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26480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0C0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4964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Docker Compose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49640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0C0"/>
                </a:solidFill>
              </a:rPr>
              <a:t>Ambiente completo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777240" y="4892040"/>
            <a:ext cx="10561320" cy="960120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1832" y="5001768"/>
            <a:ext cx="10232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5276088"/>
            <a:ext cx="102321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“Eu separei o projeto em etapas para conseguir testar cada parte: o CSV entra no Hop, os dados tratados vão para o PostgreSQL, os indicadores são calculados e o dashboard consome o resultado.”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Pipeline 1 — ingestão e tratamento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Aqui acontece a parte principal do ETL dentro do Apache Hop</a:t>
            </a:r>
            <a:endParaRPr lang="en-US" sz="1050" dirty="0"/>
          </a:p>
        </p:txBody>
      </p:sp>
      <p:pic>
        <p:nvPicPr>
          <p:cNvPr id="4" name="Image 0" descr="/mnt/data/c4af8e31-43c7-4c31-ba0c-8dc0fa453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5334"/>
            <a:ext cx="6903720" cy="35501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5072" cy="4343400"/>
          </a:xfrm>
          <a:prstGeom prst="roundRect">
            <a:avLst>
              <a:gd name="adj" fmla="val 1826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973568" y="1499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1">
                <a:solidFill>
                  <a:srgbClr val="50D7EB"/>
                </a:solidFill>
                <a:latin typeface="Aptos"/>
              </a:rPr>
              <a:t>FALA GUIA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6992" y="1847088"/>
            <a:ext cx="32461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 algn="l">
              <a:buSzPct val="100000"/>
              <a:buChar char="•"/>
            </a:pPr>
            <a:r>
              <a:rPr sz="1700" b="0">
                <a:solidFill>
                  <a:srgbClr val="F5F7FA"/>
                </a:solidFill>
                <a:latin typeface="Aptos"/>
              </a:rPr>
              <a:t>“Esse é o pipeline principal do ETL. Aqui eu leio o CSV, padronizo os campos, aplico as regras, removo duplicados e no final faço o UPSERT no PostgreSQL.”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55280" y="47000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40E08E"/>
                </a:solidFill>
                <a:latin typeface="Aptos"/>
              </a:rPr>
              <a:t>Resultado: 17.379 linhas processadas e 0 erros.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5916168"/>
            <a:ext cx="11155680" cy="438912"/>
          </a:xfrm>
          <a:prstGeom prst="roundRect">
            <a:avLst>
              <a:gd name="adj" fmla="val 16667"/>
            </a:avLst>
          </a:prstGeom>
          <a:solidFill>
            <a:srgbClr val="112833"/>
          </a:solidFill>
          <a:ln w="13970">
            <a:solidFill>
              <a:srgbClr val="4CC9F0"/>
            </a:solidFill>
            <a:prstDash val="solid"/>
          </a:ln>
          <a:effectLst>
            <a:outerShdw blurRad="225806000" dist="129032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13232" y="60167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</a:rPr>
              <a:t>MOSTRAR NA TELA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49424" y="5998464"/>
            <a:ext cx="894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9FC"/>
                </a:solidFill>
              </a:rPr>
              <a:t>Apache Hop → pipelines → 01_ingestao_tratamento_bike_sharing.hpl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Pipeline 2 — indicadores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Consolidação dos KPIs que alimentam o dashboard</a:t>
            </a:r>
            <a:endParaRPr lang="en-US" sz="1050" dirty="0"/>
          </a:p>
        </p:txBody>
      </p:sp>
      <p:pic>
        <p:nvPicPr>
          <p:cNvPr id="4" name="Image 0" descr="/mnt/data/777cba9b-c7cf-4aa7-8869-40f00e0e92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6365"/>
            <a:ext cx="6629400" cy="37275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79792" y="1298448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81812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500" b="1">
                <a:solidFill>
                  <a:srgbClr val="50D7EB"/>
                </a:solidFill>
                <a:latin typeface="Aptos"/>
              </a:rPr>
              <a:t>FALA GUIA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90688" y="1993392"/>
            <a:ext cx="324612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 algn="l">
              <a:buSzPct val="100000"/>
              <a:buChar char="•"/>
            </a:pPr>
            <a:r>
              <a:rPr sz="1700" b="0">
                <a:solidFill>
                  <a:srgbClr val="F5F7FA"/>
                </a:solidFill>
                <a:latin typeface="Aptos"/>
              </a:rPr>
              <a:t>“Depois que os dados já estão tratados, esse segundo pipeline calcula os KPIs e atualiza a tabela bike_indicadores. Assim o dashboard já recebe os resultados consolidados.”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18120" y="43342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40E08E"/>
                </a:solidFill>
                <a:latin typeface="Aptos"/>
              </a:rPr>
              <a:t>Resultado: 1 linha consolidada, sem erros.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5916168"/>
            <a:ext cx="11155680" cy="438912"/>
          </a:xfrm>
          <a:prstGeom prst="roundRect">
            <a:avLst>
              <a:gd name="adj" fmla="val 16667"/>
            </a:avLst>
          </a:prstGeom>
          <a:solidFill>
            <a:srgbClr val="112833"/>
          </a:solidFill>
          <a:ln w="13970">
            <a:solidFill>
              <a:srgbClr val="4CC9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13232" y="60167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</a:rPr>
              <a:t>MOSTRAR NA TELA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49424" y="5998464"/>
            <a:ext cx="894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9FC"/>
                </a:solidFill>
              </a:rPr>
              <a:t>Apache Hop → pipelines → 02_consolidacao_indicadores.hpl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Workflow principal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Orquestra os dois pipelines na ordem correta</a:t>
            </a:r>
            <a:endParaRPr lang="en-US" sz="1050" dirty="0"/>
          </a:p>
        </p:txBody>
      </p:sp>
      <p:pic>
        <p:nvPicPr>
          <p:cNvPr id="4" name="Image 0" descr="/mnt/data/f831b571-309c-43e4-901d-37c2bc7081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8153"/>
            <a:ext cx="7452360" cy="41902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188720"/>
            <a:ext cx="3456432" cy="4389120"/>
          </a:xfrm>
          <a:prstGeom prst="roundRect">
            <a:avLst>
              <a:gd name="adj" fmla="val 2116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C9F0"/>
                </a:solidFill>
              </a:rPr>
              <a:t>Sequência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22208" y="2029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9FC"/>
                </a:solidFill>
              </a:rPr>
              <a:t>START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81160" y="2414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C9F0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22208" y="27432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01 — Ingestão e tratamento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281160" y="3282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C9F0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22208" y="36393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02 — Indicadores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81160" y="4050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C9F0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22208" y="440740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D07F"/>
                </a:solidFill>
              </a:rPr>
              <a:t>SUCCESS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5916168"/>
            <a:ext cx="11155680" cy="438912"/>
          </a:xfrm>
          <a:prstGeom prst="roundRect">
            <a:avLst>
              <a:gd name="adj" fmla="val 16667"/>
            </a:avLst>
          </a:prstGeom>
          <a:solidFill>
            <a:srgbClr val="112833"/>
          </a:solidFill>
          <a:ln w="13970">
            <a:solidFill>
              <a:srgbClr val="4CC9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13232" y="60167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</a:rPr>
              <a:t>MOSTRAR NA TELA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249424" y="5998464"/>
            <a:ext cx="894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9FC"/>
                </a:solidFill>
              </a:rPr>
              <a:t>Apache Hop → workflows → main_bike_sharing.hwf  |  mostrar o log terminando em SUCCESS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065008" y="4828031"/>
            <a:ext cx="3310128" cy="1283599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937760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12080"/>
            <a:ext cx="29169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“O workflow só controla a sequência: primeiro o ETL, depois os indicadores. No teste final ele chegou até SUCCESS.”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Banco e validação de reexecução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A parte que prova que o processo não duplica os mesmos dados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291840" cy="1261872"/>
          </a:xfrm>
          <a:prstGeom prst="roundRect">
            <a:avLst>
              <a:gd name="adj" fmla="val 5797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" y="15179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REGISTROS NA TABELA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CC9F0"/>
                </a:solidFill>
              </a:rPr>
              <a:t>17.379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7B0C0"/>
                </a:solidFill>
              </a:rPr>
              <a:t>bike_sharing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291840" cy="1261872"/>
          </a:xfrm>
          <a:prstGeom prst="roundRect">
            <a:avLst>
              <a:gd name="adj" fmla="val 5797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99432" y="15179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INSTANT DISTINTOS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99432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</a:rPr>
              <a:t>17.379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23591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7B0C0"/>
                </a:solidFill>
              </a:rPr>
              <a:t>chave de negócio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291840" cy="1261872"/>
          </a:xfrm>
          <a:prstGeom prst="roundRect">
            <a:avLst>
              <a:gd name="adj" fmla="val 5797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394192" y="15179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DUPLICADOS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94192" y="1810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5D07F"/>
                </a:solidFill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94192" y="235915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7B0C0"/>
                </a:solidFill>
              </a:rPr>
              <a:t>após reexecução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58368" y="306324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50976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C9F0"/>
                </a:solidFill>
              </a:rPr>
              <a:t>Estratégia usada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" y="38039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7F9FC"/>
                </a:solidFill>
              </a:rPr>
              <a:t>UPSERT usando instant como chave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976" y="43708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7B0C0"/>
                </a:solidFill>
              </a:rPr>
              <a:t>Se o registro já existe, ele é atualizado em vez de ser inserido novamente.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6208" y="3063240"/>
            <a:ext cx="5285232" cy="2240280"/>
          </a:xfrm>
          <a:prstGeom prst="roundRect">
            <a:avLst>
              <a:gd name="adj" fmla="val 3265"/>
            </a:avLst>
          </a:prstGeom>
          <a:solidFill>
            <a:srgbClr val="121820"/>
          </a:solidFill>
          <a:ln w="1778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10528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C948"/>
                </a:solidFill>
              </a:rPr>
              <a:t>PRINT PENDENTE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38221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7F9FC"/>
                </a:solidFill>
              </a:rPr>
              <a:t>Validação no PostgreSQL / PowerShell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10528" y="43434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7B0C0"/>
                </a:solidFill>
              </a:rPr>
              <a:t>O print deve mostrar as consultas com os resultados: 17.379 registros, 17.379 instant distintos e 0 duplicados.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916168"/>
            <a:ext cx="11155680" cy="438912"/>
          </a:xfrm>
          <a:prstGeom prst="roundRect">
            <a:avLst>
              <a:gd name="adj" fmla="val 16667"/>
            </a:avLst>
          </a:prstGeom>
          <a:solidFill>
            <a:srgbClr val="112833"/>
          </a:solidFill>
          <a:ln w="13970">
            <a:solidFill>
              <a:srgbClr val="4CC9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13232" y="60167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</a:rPr>
              <a:t>MOSTRAR NA TELA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9424" y="5998464"/>
            <a:ext cx="894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9FC"/>
                </a:solidFill>
              </a:rPr>
              <a:t>PowerShell / psql → mostrar as consultas com 17.379 / 17.379 / 0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263640" y="3090672"/>
            <a:ext cx="4983480" cy="2359152"/>
          </a:xfrm>
          <a:prstGeom prst="rect">
            <a:avLst/>
          </a:prstGeom>
          <a:solidFill>
            <a:srgbClr val="121822"/>
          </a:solidFill>
          <a:ln>
            <a:solidFill>
              <a:srgbClr val="121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25d225e2-1545-4016-8a28-ced8895977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73552"/>
            <a:ext cx="4709160" cy="19385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77240" y="4973007"/>
            <a:ext cx="5138928" cy="896112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5074920"/>
            <a:ext cx="47457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349240"/>
            <a:ext cx="4745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“Eu rodei de novo com a mesma fonte e continuou 17.379 / 17.379 / 0. Então a reexecução não duplica os registros.”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Dashboard e indicadores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Os resultados finais consumindo os dados processados</a:t>
            </a:r>
            <a:endParaRPr lang="en-US" sz="1050" dirty="0"/>
          </a:p>
        </p:txBody>
      </p:sp>
      <p:pic>
        <p:nvPicPr>
          <p:cNvPr id="4" name="Image 0" descr="/mnt/data/e5c82ae5-0936-43b3-b6a9-94dc8c098c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95357"/>
            <a:ext cx="7406640" cy="42307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325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321040" y="14721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TOTAL DE LOCAÇÕES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21040" y="1764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CC9F0"/>
                </a:solidFill>
              </a:rPr>
              <a:t>3.292.679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156448" y="2331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321040" y="24780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MÉDIA POR HORA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21040" y="2770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</a:rPr>
              <a:t>189,46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156448" y="333756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321040" y="348386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HORA DE PICO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3776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C948"/>
                </a:solidFill>
              </a:rPr>
              <a:t>17:00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156448" y="43434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733"/>
          </a:solidFill>
          <a:ln w="10160">
            <a:solidFill>
              <a:srgbClr val="39425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321040" y="44897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B0C0"/>
                </a:solidFill>
              </a:rPr>
              <a:t>ALTA DEMANDA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21040" y="4782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5D07F"/>
                </a:solidFill>
              </a:rPr>
              <a:t>33,97%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02920" y="5916168"/>
            <a:ext cx="11155680" cy="438912"/>
          </a:xfrm>
          <a:prstGeom prst="roundRect">
            <a:avLst>
              <a:gd name="adj" fmla="val 16667"/>
            </a:avLst>
          </a:prstGeom>
          <a:solidFill>
            <a:srgbClr val="112833"/>
          </a:solidFill>
          <a:ln w="13970">
            <a:solidFill>
              <a:srgbClr val="4CC9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13232" y="60167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</a:rPr>
              <a:t>MOSTRAR NA TELA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249424" y="5998464"/>
            <a:ext cx="894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9FC"/>
                </a:solidFill>
              </a:rPr>
              <a:t>Abrir http://localhost:8501 → Visão Geral e navegar rapidamente pelas telas 2, 3, 4 e 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77240" y="4736592"/>
            <a:ext cx="6903720" cy="932688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4846320"/>
            <a:ext cx="65745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120640"/>
            <a:ext cx="6574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“No dashboard eu conferi os mesmos resultados do banco: 3,29 milhões de locações, média de 189,46 por hora, pico às 17h e 33,97% de alta demanda.”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 que os dados mostraram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Resumo das observações mais importantes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7C948"/>
                </a:solidFill>
              </a:rPr>
              <a:t>17h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78992" y="2624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9FC"/>
                </a:solidFill>
              </a:rPr>
              <a:t>foi a hora de maior demanda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32461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600" b="0">
                <a:solidFill>
                  <a:srgbClr val="F5F7FA"/>
                </a:solidFill>
                <a:latin typeface="Aptos"/>
              </a:rPr>
              <a:t>“O principal resultado foi o pico às 17h. Isso mostra uma concentração de uso no fim da tarde, que está ligada aos horários de deslocamento.”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47091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40E08E"/>
                </a:solidFill>
                <a:latin typeface="Aptos"/>
              </a:rPr>
              <a:t>“Esse resultado responde diretamente à pergunta principal do trabalho.”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4173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7922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</a:rPr>
              <a:t>Usuários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620.017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887968" y="24414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0"/>
                </a:solidFill>
              </a:rPr>
              <a:t>casuais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DD4BF"/>
                </a:solidFill>
              </a:rPr>
              <a:t>2.672.662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281160" y="3172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0"/>
                </a:solidFill>
              </a:rPr>
              <a:t>registrados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9776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0">
                <a:solidFill>
                  <a:srgbClr val="F5F7FA"/>
                </a:solidFill>
                <a:latin typeface="Aptos"/>
              </a:rPr>
              <a:t>“Também dá para ver que a maior parte das locações vem de usuários registrados.”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49560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B0C0"/>
                </a:solidFill>
              </a:rPr>
              <a:t>Total analisado: 3.292.679 locações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9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Conclusão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</a:rPr>
              <a:t>O fluxo completo ficou executável e validado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629400" cy="4251960"/>
          </a:xfrm>
          <a:prstGeom prst="roundRect">
            <a:avLst>
              <a:gd name="adj" fmla="val 2151"/>
            </a:avLst>
          </a:prstGeom>
          <a:solidFill>
            <a:srgbClr val="171C24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24128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9FC"/>
                </a:solidFill>
              </a:rPr>
              <a:t>No final eu consegui: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24128" y="2267712"/>
            <a:ext cx="55778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Tratar os dados de verdade dentro do Apache Hop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Persistir os resultados no PostgreSQL sem duplicação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Orquestrar os dois pipelines em um workflow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Consolidar os indicadores e exibir no dashboard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7F9FC"/>
                </a:solidFill>
              </a:rPr>
              <a:t>Validar a reexecução com 0 duplicados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858768" cy="4251960"/>
          </a:xfrm>
          <a:prstGeom prst="roundRect">
            <a:avLst>
              <a:gd name="adj" fmla="val 2370"/>
            </a:avLst>
          </a:prstGeom>
          <a:solidFill>
            <a:srgbClr val="202733"/>
          </a:solidFill>
          <a:ln w="12700">
            <a:solidFill>
              <a:srgbClr val="323A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973568" y="1755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C9F0"/>
                </a:solidFill>
              </a:rPr>
              <a:t>Se perguntarem…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73568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“Executar de novo duplica?”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73568" y="26700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C0"/>
                </a:solidFill>
              </a:rPr>
              <a:t>Não. Usei UPSERT e validei 0 duplicados.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7356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“Pipeline x Workflow?”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73568" y="36484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C0"/>
                </a:solidFill>
              </a:rPr>
              <a:t>Pipeline processa dados. Workflow controla a sequência.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73568" y="4288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</a:rPr>
              <a:t>“Como validou?”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462686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C0"/>
                </a:solidFill>
              </a:rPr>
              <a:t>Logs do Hop + consultas no PostgreSQL + dashboard.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5961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</a:rPr>
              <a:t>github.com/pvrezende/bike-sharing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8404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9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960120" y="4892040"/>
            <a:ext cx="5641848" cy="1161288"/>
          </a:xfrm>
          <a:prstGeom prst="roundRect">
            <a:avLst/>
          </a:prstGeom>
          <a:solidFill>
            <a:srgbClr val="181D28"/>
          </a:solidFill>
          <a:ln w="15240">
            <a:solidFill>
              <a:srgbClr val="50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4712" y="5001768"/>
            <a:ext cx="5294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7EB"/>
                </a:solidFill>
                <a:latin typeface="Aptos"/>
              </a:rPr>
              <a:t>FALA GUIA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5276088"/>
            <a:ext cx="52943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“Para concluir: o fluxo ficou completo e validado. O Hop trata, o PostgreSQL persiste sem duplicar, o workflow orquestra e o dashboard apresenta os resultados.”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9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C3CAD6"/>
                </a:solidFill>
                <a:latin typeface="Aptos"/>
              </a:rPr>
              <a:t>use como lembrete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1443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- Apache Hop</dc:title>
  <dc:subject>Trabalho Final - Módulo 6 - Apache Hop</dc:subject>
  <dc:creator>Paulo Rezende</dc:creator>
  <cp:lastModifiedBy>Paulo Victor Rezende Virginio</cp:lastModifiedBy>
  <cp:revision>2</cp:revision>
  <dcterms:created xsi:type="dcterms:W3CDTF">2026-08-24T20:18:33Z</dcterms:created>
  <dcterms:modified xsi:type="dcterms:W3CDTF">2026-08-24T20:37:10Z</dcterms:modified>
</cp:coreProperties>
</file>