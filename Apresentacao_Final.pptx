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8" d="100"/>
          <a:sy n="98" d="100"/>
        </p:scale>
        <p:origin x="82" y="-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745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Abertura, cerca de 30 segundos. Dizer: “Meu trabalho foi sobre o Bike Sharing Dataset. A ideia foi montar um fluxo completo, desde o CSV até o dashboard, usando o Apache Hop para fazer o ETL e o PostgreSQL para persistência.”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Cerca de 45 segundos. Explicar que é uma base pública da UCI, com dados por hora. Não precisa detalhar todas as colunas. Falar a pergunta principal e seguir para a arquitetura.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Cerca de 45 segundos. Dizer que o Docker ajuda a reproduzir o ambiente. A sequência principal é CSV, tratamento no Hop, gravação no banco, indicadores 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Cerca de 1min30. Abrir esse pipeline ao vivo. Apontar rapidamente cada transform. Fala natural: “Esse é o pipeline principal. Ele lê o hour.csv, padroniza, cria campos derivados, ordena e remove duplicados. No final faz UPSERT no PostgreSQL.” Não entrar em detalhes de cada coluna salvo se perguntarem.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Cerca de 1 minuto. Mostrar que esse pipeline é menor porque ele trabalha nos dados já tratados. Dizer que ele calcula os KPIs e grava na tabela bike_indicadores.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Cerca de 1 minuto. Mostrar o workflow e o log verde. Falar: “Eu criei o workflow para não precisar executar os pipelines manualmente. Ele espera o primeiro terminar, chama o segundo e no teste final chegou até SUCCESS.”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Cerca de 1min15. Essa é uma parte importante. Dizer que você reexecutou o processo e validou direto no PostgreSQL. Resultado: 17.379 registros, 17.379 instant distintos e zero duplicados. Quando o print do terminal estiver disponível, substituir o quadro PRINT PENDENTE por 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Cerca de 1min30. Abrir o dashboard. Começar na Visão Geral e falar os quatro KPIs. Depois passar rapidamente por Demanda por Hora, Clima, Usuários e Período/Estação. Não gastar muito tempo em cada gráfico.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Cerca de 45 segundos. Destacar só dois achados: pico às 17h e predominância de usuários registrados. Evitar inventar causa; falar que o horário é compatível com deslocamento de fim de expediente, mas apresentar isso como interpretação.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Fechamento, cerca de 30 a 45 segundos. Dizer: “No final eu consegui fechar o fluxo completo e validar a reexecução sem duplicidades. O principal aprendizado foi separar bem o papel do pipeline, do workflow, do banco e do dashboard.” Depois abrir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6565392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6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Trabalho Final — Módulo 6 | Paulo Rezende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8404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C96A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8404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C96A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7F9FC"/>
                </a:solidFill>
              </a:rPr>
              <a:t>BIKE SHARING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1783080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4CC9F0"/>
                </a:solidFill>
              </a:rPr>
              <a:t>ETL, PostgreSQL e Dashboard com Apache Hop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23317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7B0C0"/>
                </a:solidFill>
              </a:rPr>
              <a:t>Trabalho Final — Módulo 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58368" y="2788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9FC"/>
                </a:solidFill>
              </a:rPr>
              <a:t>Paulo Rezende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818120" y="114300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202733"/>
          </a:solidFill>
          <a:ln w="12700">
            <a:solidFill>
              <a:srgbClr val="323A48"/>
            </a:solidFill>
            <a:prstDash val="solid"/>
          </a:ln>
          <a:effectLst>
            <a:outerShdw blurRad="17780" dist="1016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8183880" y="1517904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CC9F0"/>
                </a:solidFill>
              </a:rPr>
              <a:t>Pergunta do projeto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83880" y="2029968"/>
            <a:ext cx="27432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7F9FC"/>
                </a:solidFill>
              </a:rPr>
              <a:t>Em quais horários, dias e condições climáticas ocorre maior ou menor demanda por bicicletas?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513892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</a:rPr>
              <a:t>CSV → Apache Hop → PostgreSQL → Dashboard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8404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C96A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63640" y="4069080"/>
            <a:ext cx="4892040" cy="1417320"/>
          </a:xfrm>
          <a:prstGeom prst="roundRect">
            <a:avLst/>
          </a:prstGeom>
          <a:solidFill>
            <a:srgbClr val="181D28"/>
          </a:solidFill>
          <a:ln w="15240">
            <a:solidFill>
              <a:srgbClr val="50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28231" y="4178808"/>
            <a:ext cx="4562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0D7EB"/>
                </a:solidFill>
                <a:latin typeface="Aptos"/>
              </a:rPr>
              <a:t>FALA GUIA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453128"/>
            <a:ext cx="4562855" cy="941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“Meu projeto usa o Bike Sharing Dataset. A ideia foi montar o fluxo completo: ler o CSV, tratar no Apache Hop, gravar no PostgreSQL e apresentar os resultados em um dashboard.”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219456"/>
            <a:ext cx="1508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C3CAD6"/>
                </a:solidFill>
                <a:latin typeface="Aptos"/>
              </a:rPr>
              <a:t>use como lembrete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7F9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Dataset e problema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</a:rPr>
              <a:t>Fonte pública e pergunta que orientou a análise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30352" y="1261872"/>
            <a:ext cx="5029200" cy="4069080"/>
          </a:xfrm>
          <a:prstGeom prst="roundRect">
            <a:avLst>
              <a:gd name="adj" fmla="val 1798"/>
            </a:avLst>
          </a:prstGeom>
          <a:solidFill>
            <a:srgbClr val="171C24"/>
          </a:solidFill>
          <a:ln w="12700">
            <a:solidFill>
              <a:srgbClr val="323A4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822960" y="157276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7F9FC"/>
                </a:solidFill>
              </a:rPr>
              <a:t>Bike Sharing Dataset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121408"/>
            <a:ext cx="4206240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F7F9FC"/>
                </a:solidFill>
              </a:rPr>
              <a:t>Fonte: UCI Machine Learning Repository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F7F9FC"/>
                </a:solidFill>
              </a:rPr>
              <a:t>Dados horários de aluguel de bicicletas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F7F9FC"/>
                </a:solidFill>
              </a:rPr>
              <a:t>Informações de calendário e clima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F7F9FC"/>
                </a:solidFill>
              </a:rPr>
              <a:t>17.379 registros utilizados no processo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80760" y="16002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CC9F0"/>
                </a:solidFill>
              </a:rPr>
              <a:t>Pergunta principal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80760" y="19659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9FC"/>
                </a:solidFill>
              </a:rPr>
              <a:t>Quando a demanda por bicicletas é maior ou menor?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6099048" y="3127248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7B0C0"/>
                </a:solidFill>
              </a:rPr>
              <a:t>A partir disso eu foquei em horário, clima, usuários e período/estação.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099048" y="43159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7B0C0"/>
                </a:solidFill>
              </a:rPr>
              <a:t>Fonte usada no trabalho: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099048" y="463600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DD4BF"/>
                </a:solidFill>
              </a:rPr>
              <a:t>archive.ics.uci.edu/dataset/275/bike+sharing+dataset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8404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C96A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080760" y="3703320"/>
            <a:ext cx="4800600" cy="1572768"/>
          </a:xfrm>
          <a:prstGeom prst="roundRect">
            <a:avLst/>
          </a:prstGeom>
          <a:solidFill>
            <a:srgbClr val="181D28"/>
          </a:solidFill>
          <a:ln w="15240">
            <a:solidFill>
              <a:srgbClr val="50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45352" y="3813048"/>
            <a:ext cx="447141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0D7EB"/>
                </a:solidFill>
                <a:latin typeface="Aptos"/>
              </a:rPr>
              <a:t>FALA GUIA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5352" y="4087368"/>
            <a:ext cx="4471416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“A pergunta que orientou a análise foi: quando a demanda por bicicletas é maior ou menor? Por isso eu observei horário, clima, usuários e período do ano.”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219456"/>
            <a:ext cx="1508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C3CAD6"/>
                </a:solidFill>
                <a:latin typeface="Aptos"/>
              </a:rPr>
              <a:t>use como lembrete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7F9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Arquitetura que eu montei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</a:rPr>
              <a:t>Fluxo simples para conseguir testar cada etapa separadamente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66928" y="1938528"/>
            <a:ext cx="1920240" cy="713232"/>
          </a:xfrm>
          <a:prstGeom prst="roundRect">
            <a:avLst>
              <a:gd name="adj" fmla="val 7692"/>
            </a:avLst>
          </a:prstGeom>
          <a:solidFill>
            <a:srgbClr val="202733"/>
          </a:solidFill>
          <a:ln w="12700">
            <a:solidFill>
              <a:srgbClr val="323A4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40080" y="2121408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1117"/>
                </a:solidFill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24712" y="2066544"/>
            <a:ext cx="1261872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F7F9FC"/>
                </a:solidFill>
              </a:rPr>
              <a:t>CSV UCI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32888" y="2130552"/>
            <a:ext cx="347472" cy="292608"/>
          </a:xfrm>
          <a:prstGeom prst="chevron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2834640" y="1938528"/>
            <a:ext cx="1920240" cy="713232"/>
          </a:xfrm>
          <a:prstGeom prst="roundRect">
            <a:avLst>
              <a:gd name="adj" fmla="val 7692"/>
            </a:avLst>
          </a:prstGeom>
          <a:solidFill>
            <a:srgbClr val="202733"/>
          </a:solidFill>
          <a:ln w="12700">
            <a:solidFill>
              <a:srgbClr val="323A4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2907792" y="2084832"/>
            <a:ext cx="402336" cy="402336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2907792" y="2121408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1117"/>
                </a:solidFill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92424" y="2066544"/>
            <a:ext cx="1261872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F7F9FC"/>
                </a:solidFill>
              </a:rPr>
              <a:t>Apache Hop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800600" y="2130552"/>
            <a:ext cx="347472" cy="292608"/>
          </a:xfrm>
          <a:prstGeom prst="chevron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5102352" y="1938528"/>
            <a:ext cx="1920240" cy="713232"/>
          </a:xfrm>
          <a:prstGeom prst="roundRect">
            <a:avLst>
              <a:gd name="adj" fmla="val 7692"/>
            </a:avLst>
          </a:prstGeom>
          <a:solidFill>
            <a:srgbClr val="202733"/>
          </a:solidFill>
          <a:ln w="12700">
            <a:solidFill>
              <a:srgbClr val="323A4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5175504" y="2084832"/>
            <a:ext cx="402336" cy="402336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175504" y="2121408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1117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660136" y="2066544"/>
            <a:ext cx="1261872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F7F9FC"/>
                </a:solidFill>
              </a:rPr>
              <a:t>PostgreSQL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068312" y="2130552"/>
            <a:ext cx="347472" cy="292608"/>
          </a:xfrm>
          <a:prstGeom prst="chevron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7370064" y="1938528"/>
            <a:ext cx="1920240" cy="713232"/>
          </a:xfrm>
          <a:prstGeom prst="roundRect">
            <a:avLst>
              <a:gd name="adj" fmla="val 7692"/>
            </a:avLst>
          </a:prstGeom>
          <a:solidFill>
            <a:srgbClr val="202733"/>
          </a:solidFill>
          <a:ln w="12700">
            <a:solidFill>
              <a:srgbClr val="323A4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7443216" y="2084832"/>
            <a:ext cx="402336" cy="402336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7443216" y="2121408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1117"/>
                </a:solidFill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927848" y="2066544"/>
            <a:ext cx="1261872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F7F9FC"/>
                </a:solidFill>
              </a:rPr>
              <a:t>Indicadores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336024" y="2130552"/>
            <a:ext cx="347472" cy="292608"/>
          </a:xfrm>
          <a:prstGeom prst="chevron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9637776" y="1938528"/>
            <a:ext cx="1920240" cy="713232"/>
          </a:xfrm>
          <a:prstGeom prst="roundRect">
            <a:avLst>
              <a:gd name="adj" fmla="val 7692"/>
            </a:avLst>
          </a:prstGeom>
          <a:solidFill>
            <a:srgbClr val="202733"/>
          </a:solidFill>
          <a:ln w="12700">
            <a:solidFill>
              <a:srgbClr val="323A4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23"/>
          <p:cNvSpPr/>
          <p:nvPr/>
        </p:nvSpPr>
        <p:spPr>
          <a:xfrm>
            <a:off x="9710928" y="2084832"/>
            <a:ext cx="402336" cy="402336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9710928" y="2121408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1117"/>
                </a:solidFill>
              </a:rPr>
              <a:t>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195560" y="2066544"/>
            <a:ext cx="1261872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F7F9FC"/>
                </a:solidFill>
              </a:rPr>
              <a:t>Dashboard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14400" y="3246120"/>
            <a:ext cx="10332720" cy="1508760"/>
          </a:xfrm>
          <a:prstGeom prst="roundRect">
            <a:avLst>
              <a:gd name="adj" fmla="val 4848"/>
            </a:avLst>
          </a:prstGeom>
          <a:solidFill>
            <a:srgbClr val="171C24"/>
          </a:solidFill>
          <a:ln w="12700">
            <a:solidFill>
              <a:srgbClr val="323A4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1188720" y="3520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CC9F0"/>
                </a:solidFill>
              </a:rPr>
              <a:t>Tecnologias usadas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88720" y="3950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9FC"/>
                </a:solidFill>
              </a:rPr>
              <a:t>Apache Hop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188720" y="42793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7B0C0"/>
                </a:solidFill>
              </a:rPr>
              <a:t>ETL e workflow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0" y="3950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9FC"/>
                </a:solidFill>
              </a:rPr>
              <a:t>PostgreSQL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657600" y="42793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7B0C0"/>
                </a:solidFill>
              </a:rPr>
              <a:t>Persistência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126480" y="3950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9FC"/>
                </a:solidFill>
              </a:rPr>
              <a:t>Streamlit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126480" y="42793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7B0C0"/>
                </a:solidFill>
              </a:rPr>
              <a:t>Dashboard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49640" y="39502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9FC"/>
                </a:solidFill>
              </a:rPr>
              <a:t>Docker Compose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549640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7B0C0"/>
                </a:solidFill>
              </a:rPr>
              <a:t>Ambiente completo</a:t>
            </a:r>
            <a:endParaRPr lang="en-US" sz="10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8404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C96A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777240" y="4892040"/>
            <a:ext cx="10561320" cy="960120"/>
          </a:xfrm>
          <a:prstGeom prst="roundRect">
            <a:avLst/>
          </a:prstGeom>
          <a:solidFill>
            <a:srgbClr val="181D28"/>
          </a:solidFill>
          <a:ln w="15240">
            <a:solidFill>
              <a:srgbClr val="50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1832" y="5001768"/>
            <a:ext cx="1023213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0D7EB"/>
                </a:solidFill>
                <a:latin typeface="Aptos"/>
              </a:rPr>
              <a:t>FALA GUIA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" y="5276088"/>
            <a:ext cx="10232136" cy="484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“Eu separei o projeto em etapas para conseguir testar cada parte: o CSV entra no Hop, os dados tratados vão para o PostgreSQL, os indicadores são calculados e o dashboard consome o resultado.”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6920" y="219456"/>
            <a:ext cx="1508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C3CAD6"/>
                </a:solidFill>
                <a:latin typeface="Aptos"/>
              </a:rPr>
              <a:t>use como lembrete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7F9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Pipeline 1 — ingestão e tratamento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</a:rPr>
              <a:t>Aqui acontece a parte principal do ETL dentro do Apache Hop</a:t>
            </a:r>
            <a:endParaRPr lang="en-US" sz="1050" dirty="0"/>
          </a:p>
        </p:txBody>
      </p:sp>
      <p:pic>
        <p:nvPicPr>
          <p:cNvPr id="4" name="Image 0" descr="/mnt/data/c4af8e31-43c7-4c31-ba0c-8dc0fa4539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85334"/>
            <a:ext cx="6903720" cy="35501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188720"/>
            <a:ext cx="4005072" cy="4343400"/>
          </a:xfrm>
          <a:prstGeom prst="roundRect">
            <a:avLst>
              <a:gd name="adj" fmla="val 1826"/>
            </a:avLst>
          </a:prstGeom>
          <a:solidFill>
            <a:srgbClr val="171C24"/>
          </a:solidFill>
          <a:ln w="12700">
            <a:solidFill>
              <a:srgbClr val="323A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7973568" y="149961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sz="1500" b="1">
                <a:solidFill>
                  <a:srgbClr val="50D7EB"/>
                </a:solidFill>
                <a:latin typeface="Aptos"/>
              </a:rPr>
              <a:t>FALA GUIA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936992" y="1847088"/>
            <a:ext cx="3246120" cy="2331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228600" indent="-228600" algn="l">
              <a:buSzPct val="100000"/>
              <a:buChar char="•"/>
            </a:pPr>
            <a:r>
              <a:rPr sz="1700" b="0">
                <a:solidFill>
                  <a:srgbClr val="F5F7FA"/>
                </a:solidFill>
                <a:latin typeface="Aptos"/>
              </a:rPr>
              <a:t>“Esse é o pipeline principal do ETL. Aqui eu leio o CSV, padronizo os campos, aplico as regras, removo duplicados e no final faço o UPSERT no PostgreSQL.”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955280" y="4700016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1400" b="1">
                <a:solidFill>
                  <a:srgbClr val="40E08E"/>
                </a:solidFill>
                <a:latin typeface="Aptos"/>
              </a:rPr>
              <a:t>Resultado: 17.379 linhas processadas e 0 erros.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5916168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112833"/>
          </a:solidFill>
          <a:ln w="13970">
            <a:solidFill>
              <a:srgbClr val="4CC9F0"/>
            </a:solidFill>
            <a:prstDash val="solid"/>
          </a:ln>
          <a:effectLst>
            <a:outerShdw blurRad="225806000" dist="129032000"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713232" y="6016752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CC9F0"/>
                </a:solidFill>
              </a:rPr>
              <a:t>MOSTRAR NA TELA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2249424" y="5998464"/>
            <a:ext cx="8942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7F9FC"/>
                </a:solidFill>
              </a:rPr>
              <a:t>Apache Hop → pipelines → 01_ingestao_tratamento_bike_sharing.hpl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8404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C96A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9646920" y="219456"/>
            <a:ext cx="1508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C3CAD6"/>
                </a:solidFill>
                <a:latin typeface="Aptos"/>
              </a:rPr>
              <a:t>use como lembrete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7F9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Pipeline 2 — indicadores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</a:rPr>
              <a:t>Consolidação dos KPIs que alimentam o dashboard</a:t>
            </a:r>
            <a:endParaRPr lang="en-US" sz="1050" dirty="0"/>
          </a:p>
        </p:txBody>
      </p:sp>
      <p:pic>
        <p:nvPicPr>
          <p:cNvPr id="4" name="Image 0" descr="/mnt/data/777cba9b-c7cf-4aa7-8869-40f00e0e92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46365"/>
            <a:ext cx="6629400" cy="37275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79792" y="1298448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171C24"/>
          </a:solidFill>
          <a:ln w="12700">
            <a:solidFill>
              <a:srgbClr val="323A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7818120" y="16276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sz="1500" b="1">
                <a:solidFill>
                  <a:srgbClr val="50D7EB"/>
                </a:solidFill>
                <a:latin typeface="Aptos"/>
              </a:rPr>
              <a:t>FALA GUIA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90688" y="1993392"/>
            <a:ext cx="324612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228600" indent="-228600" algn="l">
              <a:buSzPct val="100000"/>
              <a:buChar char="•"/>
            </a:pPr>
            <a:r>
              <a:rPr sz="1700" b="0">
                <a:solidFill>
                  <a:srgbClr val="F5F7FA"/>
                </a:solidFill>
                <a:latin typeface="Aptos"/>
              </a:rPr>
              <a:t>“Depois que os dados já estão tratados, esse segundo pipeline calcula os KPIs e atualiza a tabela bike_indicadores. Assim o dashboard já recebe os resultados consolidados.”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818120" y="4334256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1400" b="1">
                <a:solidFill>
                  <a:srgbClr val="40E08E"/>
                </a:solidFill>
                <a:latin typeface="Aptos"/>
              </a:rPr>
              <a:t>Resultado: 1 linha consolidada, sem erros.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5916168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112833"/>
          </a:solidFill>
          <a:ln w="13970">
            <a:solidFill>
              <a:srgbClr val="4CC9F0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713232" y="6016752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CC9F0"/>
                </a:solidFill>
              </a:rPr>
              <a:t>MOSTRAR NA TELA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2249424" y="5998464"/>
            <a:ext cx="8942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7F9FC"/>
                </a:solidFill>
              </a:rPr>
              <a:t>Apache Hop → pipelines → 02_consolidacao_indicadores.hpl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8404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C96A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9646920" y="219456"/>
            <a:ext cx="1508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C3CAD6"/>
                </a:solidFill>
                <a:latin typeface="Aptos"/>
              </a:rPr>
              <a:t>use como lembrete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7F9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Workflow principal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</a:rPr>
              <a:t>Orquestra os dois pipelines na ordem correta</a:t>
            </a:r>
            <a:endParaRPr lang="en-US" sz="1050" dirty="0"/>
          </a:p>
        </p:txBody>
      </p:sp>
      <p:pic>
        <p:nvPicPr>
          <p:cNvPr id="4" name="Image 0" descr="/mnt/data/f831b571-309c-43e4-901d-37c2bc7081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88153"/>
            <a:ext cx="7452360" cy="419025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183880" y="1188720"/>
            <a:ext cx="3456432" cy="4389120"/>
          </a:xfrm>
          <a:prstGeom prst="roundRect">
            <a:avLst>
              <a:gd name="adj" fmla="val 2116"/>
            </a:avLst>
          </a:prstGeom>
          <a:solidFill>
            <a:srgbClr val="171C24"/>
          </a:solidFill>
          <a:ln w="12700">
            <a:solidFill>
              <a:srgbClr val="323A4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8503920" y="1554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C9F0"/>
                </a:solidFill>
              </a:rPr>
              <a:t>Sequência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522208" y="20299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F9FC"/>
                </a:solidFill>
              </a:rPr>
              <a:t>START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281160" y="24140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CC9F0"/>
                </a:solidFill>
              </a:rPr>
              <a:t>↓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522208" y="2743200"/>
            <a:ext cx="2697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F7F9FC"/>
                </a:solidFill>
              </a:rPr>
              <a:t>01 — Ingestão e tratamento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281160" y="32826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CC9F0"/>
                </a:solidFill>
              </a:rPr>
              <a:t>↓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522208" y="3639312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9FC"/>
                </a:solidFill>
              </a:rPr>
              <a:t>02 — Indicadores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281160" y="4050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CC9F0"/>
                </a:solidFill>
              </a:rPr>
              <a:t>↓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522208" y="440740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5D07F"/>
                </a:solidFill>
              </a:rPr>
              <a:t>SUCCESS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02920" y="5916168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112833"/>
          </a:solidFill>
          <a:ln w="13970">
            <a:solidFill>
              <a:srgbClr val="4CC9F0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713232" y="6016752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CC9F0"/>
                </a:solidFill>
              </a:rPr>
              <a:t>MOSTRAR NA TELA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2249424" y="5998464"/>
            <a:ext cx="8942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7F9FC"/>
                </a:solidFill>
              </a:rPr>
              <a:t>Apache Hop → workflows → main_bike_sharing.hwf  |  mostrar o log terminando em SUCCESS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8404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C96A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8065008" y="4828031"/>
            <a:ext cx="3310128" cy="1283599"/>
          </a:xfrm>
          <a:prstGeom prst="roundRect">
            <a:avLst/>
          </a:prstGeom>
          <a:solidFill>
            <a:srgbClr val="181D28"/>
          </a:solidFill>
          <a:ln w="15240">
            <a:solidFill>
              <a:srgbClr val="50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0" y="4937760"/>
            <a:ext cx="291693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0D7EB"/>
                </a:solidFill>
                <a:latin typeface="Aptos"/>
              </a:rPr>
              <a:t>FALA GUIA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5212080"/>
            <a:ext cx="2916936" cy="484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“O workflow só controla a sequência: primeiro o ETL, depois os indicadores. No teste final ele chegou até SUCCESS.”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219456"/>
            <a:ext cx="1508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C3CAD6"/>
                </a:solidFill>
                <a:latin typeface="Aptos"/>
              </a:rPr>
              <a:t>use como lembrete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7F9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 Banco e validação de reexecução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</a:rPr>
              <a:t>A parte que prova que o processo não duplica os mesmos dados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3291840" cy="1261872"/>
          </a:xfrm>
          <a:prstGeom prst="roundRect">
            <a:avLst>
              <a:gd name="adj" fmla="val 5797"/>
            </a:avLst>
          </a:prstGeom>
          <a:solidFill>
            <a:srgbClr val="202733"/>
          </a:solidFill>
          <a:ln w="10160">
            <a:solidFill>
              <a:srgbClr val="394251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804672" y="1517904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7B0C0"/>
                </a:solidFill>
              </a:rPr>
              <a:t>REGISTROS NA TABELA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" y="181051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4CC9F0"/>
                </a:solidFill>
              </a:rPr>
              <a:t>17.379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04672" y="2359152"/>
            <a:ext cx="2971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A7B0C0"/>
                </a:solidFill>
              </a:rPr>
              <a:t>bike_sharing</a:t>
            </a:r>
            <a:endParaRPr lang="en-US" sz="820" dirty="0"/>
          </a:p>
        </p:txBody>
      </p:sp>
      <p:sp>
        <p:nvSpPr>
          <p:cNvPr id="8" name="Shape 6"/>
          <p:cNvSpPr/>
          <p:nvPr/>
        </p:nvSpPr>
        <p:spPr>
          <a:xfrm>
            <a:off x="4434840" y="1371600"/>
            <a:ext cx="3291840" cy="1261872"/>
          </a:xfrm>
          <a:prstGeom prst="roundRect">
            <a:avLst>
              <a:gd name="adj" fmla="val 5797"/>
            </a:avLst>
          </a:prstGeom>
          <a:solidFill>
            <a:srgbClr val="202733"/>
          </a:solidFill>
          <a:ln w="10160">
            <a:solidFill>
              <a:srgbClr val="394251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4599432" y="1517904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7B0C0"/>
                </a:solidFill>
              </a:rPr>
              <a:t>INSTANT DISTINTOS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99432" y="181051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DD4BF"/>
                </a:solidFill>
              </a:rPr>
              <a:t>17.379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99432" y="2359152"/>
            <a:ext cx="2971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A7B0C0"/>
                </a:solidFill>
              </a:rPr>
              <a:t>chave de negócio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8229600" y="1371600"/>
            <a:ext cx="3291840" cy="1261872"/>
          </a:xfrm>
          <a:prstGeom prst="roundRect">
            <a:avLst>
              <a:gd name="adj" fmla="val 5797"/>
            </a:avLst>
          </a:prstGeom>
          <a:solidFill>
            <a:srgbClr val="202733"/>
          </a:solidFill>
          <a:ln w="10160">
            <a:solidFill>
              <a:srgbClr val="394251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8394192" y="1517904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7B0C0"/>
                </a:solidFill>
              </a:rPr>
              <a:t>DUPLICADOS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94192" y="181051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35D07F"/>
                </a:solidFill>
              </a:rPr>
              <a:t>0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394192" y="2359152"/>
            <a:ext cx="2971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A7B0C0"/>
                </a:solidFill>
              </a:rPr>
              <a:t>após reexecução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658368" y="3063240"/>
            <a:ext cx="5257800" cy="2240280"/>
          </a:xfrm>
          <a:prstGeom prst="roundRect">
            <a:avLst>
              <a:gd name="adj" fmla="val 3265"/>
            </a:avLst>
          </a:prstGeom>
          <a:solidFill>
            <a:srgbClr val="171C24"/>
          </a:solidFill>
          <a:ln w="12700">
            <a:solidFill>
              <a:srgbClr val="323A4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950976" y="33649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C9F0"/>
                </a:solidFill>
              </a:rPr>
              <a:t>Estratégia usada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50976" y="380390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7F9FC"/>
                </a:solidFill>
              </a:rPr>
              <a:t>UPSERT usando instant como chave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0976" y="437083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A7B0C0"/>
                </a:solidFill>
              </a:rPr>
              <a:t>Se o registro já existe, ele é atualizado em vez de ser inserido novamente.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36208" y="3063240"/>
            <a:ext cx="5285232" cy="2240280"/>
          </a:xfrm>
          <a:prstGeom prst="roundRect">
            <a:avLst>
              <a:gd name="adj" fmla="val 3265"/>
            </a:avLst>
          </a:prstGeom>
          <a:solidFill>
            <a:srgbClr val="121820"/>
          </a:solidFill>
          <a:ln w="1778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6510528" y="3383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C948"/>
                </a:solidFill>
              </a:rPr>
              <a:t>PRINT PENDENTE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510528" y="3822192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7F9FC"/>
                </a:solidFill>
              </a:rPr>
              <a:t>Validação no PostgreSQL / PowerShell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10528" y="434340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A7B0C0"/>
                </a:solidFill>
              </a:rPr>
              <a:t>O print deve mostrar as consultas com os resultados: 17.379 registros, 17.379 instant distintos e 0 duplicados.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2920" y="5916168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112833"/>
          </a:solidFill>
          <a:ln w="13970">
            <a:solidFill>
              <a:srgbClr val="4CC9F0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713232" y="6016752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CC9F0"/>
                </a:solidFill>
              </a:rPr>
              <a:t>MOSTRAR NA TELA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249424" y="5998464"/>
            <a:ext cx="8942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7F9FC"/>
                </a:solidFill>
              </a:rPr>
              <a:t>PowerShell / psql → mostrar as consultas com 17.379 / 17.379 / 0</a:t>
            </a:r>
            <a:endParaRPr lang="en-US" sz="105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8404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C96A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6263640" y="3090672"/>
            <a:ext cx="4983480" cy="2359152"/>
          </a:xfrm>
          <a:prstGeom prst="rect">
            <a:avLst/>
          </a:prstGeom>
          <a:solidFill>
            <a:srgbClr val="121822"/>
          </a:solidFill>
          <a:ln>
            <a:solidFill>
              <a:srgbClr val="1218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25d225e2-1545-4016-8a28-ced8895977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273552"/>
            <a:ext cx="4709160" cy="1938528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777240" y="4965192"/>
            <a:ext cx="5074920" cy="685800"/>
          </a:xfrm>
          <a:prstGeom prst="roundRect">
            <a:avLst/>
          </a:prstGeom>
          <a:solidFill>
            <a:srgbClr val="181D28"/>
          </a:solidFill>
          <a:ln w="15240">
            <a:solidFill>
              <a:srgbClr val="50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41832" y="5074920"/>
            <a:ext cx="474573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0D7EB"/>
                </a:solidFill>
                <a:latin typeface="Aptos"/>
              </a:rPr>
              <a:t>FALA GUIA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" y="5349240"/>
            <a:ext cx="4745736" cy="2103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“Eu rodei de novo com a mesma fonte e continuou 17.379 / 17.379 / 0. Então a reexecução não duplica os registros.”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6920" y="219456"/>
            <a:ext cx="1508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C3CAD6"/>
                </a:solidFill>
                <a:latin typeface="Aptos"/>
              </a:rPr>
              <a:t>use como lembrete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7F9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7. Dashboard e indicadores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</a:rPr>
              <a:t>Os resultados finais consumindo os dados processados</a:t>
            </a:r>
            <a:endParaRPr lang="en-US" sz="1050" dirty="0"/>
          </a:p>
        </p:txBody>
      </p:sp>
      <p:pic>
        <p:nvPicPr>
          <p:cNvPr id="4" name="Image 0" descr="/mnt/data/e5c82ae5-0936-43b3-b6a9-94dc8c098c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95357"/>
            <a:ext cx="7406640" cy="423071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156448" y="132588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202733"/>
          </a:solidFill>
          <a:ln w="10160">
            <a:solidFill>
              <a:srgbClr val="394251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8321040" y="1472184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7B0C0"/>
                </a:solidFill>
              </a:rPr>
              <a:t>TOTAL DE LOCAÇÕES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321040" y="176479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4CC9F0"/>
                </a:solidFill>
              </a:rPr>
              <a:t>3.292.679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156448" y="233172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202733"/>
          </a:solidFill>
          <a:ln w="10160">
            <a:solidFill>
              <a:srgbClr val="394251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8321040" y="2478024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7B0C0"/>
                </a:solidFill>
              </a:rPr>
              <a:t>MÉDIA POR HORA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21040" y="277063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DD4BF"/>
                </a:solidFill>
              </a:rPr>
              <a:t>189,46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156448" y="333756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202733"/>
          </a:solidFill>
          <a:ln w="10160">
            <a:solidFill>
              <a:srgbClr val="394251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8321040" y="3483864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7B0C0"/>
                </a:solidFill>
              </a:rPr>
              <a:t>HORA DE PICO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321040" y="37764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7C948"/>
                </a:solidFill>
              </a:rPr>
              <a:t>17:00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156448" y="434340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202733"/>
          </a:solidFill>
          <a:ln w="10160">
            <a:solidFill>
              <a:srgbClr val="394251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8321040" y="4489704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7B0C0"/>
                </a:solidFill>
              </a:rPr>
              <a:t>ALTA DEMANDA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321040" y="478231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35D07F"/>
                </a:solidFill>
              </a:rPr>
              <a:t>33,97%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502920" y="5916168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112833"/>
          </a:solidFill>
          <a:ln w="13970">
            <a:solidFill>
              <a:srgbClr val="4CC9F0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713232" y="6016752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CC9F0"/>
                </a:solidFill>
              </a:rPr>
              <a:t>MOSTRAR NA TELA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249424" y="5998464"/>
            <a:ext cx="8942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7F9FC"/>
                </a:solidFill>
              </a:rPr>
              <a:t>Abrir http://localhost:8501 → Visão Geral e navegar rapidamente pelas telas 2, 3, 4 e 5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8404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C96A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777240" y="4736592"/>
            <a:ext cx="6903720" cy="932688"/>
          </a:xfrm>
          <a:prstGeom prst="roundRect">
            <a:avLst/>
          </a:prstGeom>
          <a:solidFill>
            <a:srgbClr val="181D28"/>
          </a:solidFill>
          <a:ln w="15240">
            <a:solidFill>
              <a:srgbClr val="50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1832" y="4846320"/>
            <a:ext cx="657453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0D7EB"/>
                </a:solidFill>
                <a:latin typeface="Aptos"/>
              </a:rPr>
              <a:t>FALA GUIA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" y="5120640"/>
            <a:ext cx="657453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“No dashboard eu conferi os mesmos resultados do banco: 3,29 milhões de locações, média de 189,46 por hora, pico às 17h e 33,97% de alta demanda.”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219456"/>
            <a:ext cx="1508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C3CAD6"/>
                </a:solidFill>
                <a:latin typeface="Aptos"/>
              </a:rPr>
              <a:t>use como lembrete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7F9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8. O que os dados mostraram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</a:rPr>
              <a:t>Resumo das observações mais importantes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5212080" cy="4297680"/>
          </a:xfrm>
          <a:prstGeom prst="roundRect">
            <a:avLst>
              <a:gd name="adj" fmla="val 2128"/>
            </a:avLst>
          </a:prstGeom>
          <a:solidFill>
            <a:srgbClr val="171C24"/>
          </a:solidFill>
          <a:ln w="12700">
            <a:solidFill>
              <a:srgbClr val="323A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051560" y="1783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7C948"/>
                </a:solidFill>
              </a:rPr>
              <a:t>17h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78992" y="262432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F9FC"/>
                </a:solidFill>
              </a:rPr>
              <a:t>foi a hora de maior demanda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78992" y="3246120"/>
            <a:ext cx="4160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1600" b="0">
                <a:solidFill>
                  <a:srgbClr val="F5F7FA"/>
                </a:solidFill>
                <a:latin typeface="Aptos"/>
              </a:rPr>
              <a:t>“O principal resultado foi o pico às 17h. Isso mostra uma concentração de uso no fim da tarde, que está ligada aos horários de deslocamento.”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8992" y="4709160"/>
            <a:ext cx="4160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1400" b="1">
                <a:solidFill>
                  <a:srgbClr val="40E08E"/>
                </a:solidFill>
                <a:latin typeface="Aptos"/>
              </a:rPr>
              <a:t>“Esse resultado responde diretamente à pergunta principal do trabalho.”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91072" y="1417320"/>
            <a:ext cx="5212080" cy="4297680"/>
          </a:xfrm>
          <a:prstGeom prst="roundRect">
            <a:avLst>
              <a:gd name="adj" fmla="val 2128"/>
            </a:avLst>
          </a:prstGeom>
          <a:solidFill>
            <a:srgbClr val="202733"/>
          </a:solidFill>
          <a:ln w="12700">
            <a:solidFill>
              <a:srgbClr val="323A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629400" y="179222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CC9F0"/>
                </a:solidFill>
              </a:rPr>
              <a:t>Usuários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29400" y="2331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9FC"/>
                </a:solidFill>
              </a:rPr>
              <a:t>620.017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887968" y="244144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7B0C0"/>
                </a:solidFill>
              </a:rPr>
              <a:t>casuais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29400" y="3063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DD4BF"/>
                </a:solidFill>
              </a:rPr>
              <a:t>2.672.662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281160" y="3172968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7B0C0"/>
                </a:solidFill>
              </a:rPr>
              <a:t>registrados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29400" y="3977640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1500" b="0">
                <a:solidFill>
                  <a:srgbClr val="F5F7FA"/>
                </a:solidFill>
                <a:latin typeface="Aptos"/>
              </a:rPr>
              <a:t>“Também dá para ver que a maior parte das locações vem de usuários registrados.”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629400" y="49560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7B0C0"/>
                </a:solidFill>
              </a:rPr>
              <a:t>Total analisado: 3.292.679 locações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8404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C96A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9646920" y="219456"/>
            <a:ext cx="1508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C3CAD6"/>
                </a:solidFill>
                <a:latin typeface="Aptos"/>
              </a:rPr>
              <a:t>use como lembrete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7F9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9. Conclusão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</a:rPr>
              <a:t>O fluxo completo ficou executável e validado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6629400" cy="4251960"/>
          </a:xfrm>
          <a:prstGeom prst="roundRect">
            <a:avLst>
              <a:gd name="adj" fmla="val 2151"/>
            </a:avLst>
          </a:prstGeom>
          <a:solidFill>
            <a:srgbClr val="171C24"/>
          </a:solidFill>
          <a:ln w="12700">
            <a:solidFill>
              <a:srgbClr val="323A4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24128" y="17556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F9FC"/>
                </a:solidFill>
              </a:rPr>
              <a:t>No final eu consegui: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24128" y="2267712"/>
            <a:ext cx="5577840" cy="2331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F7F9FC"/>
                </a:solidFill>
              </a:rPr>
              <a:t>Tratar os dados de verdade dentro do Apache Hop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F7F9FC"/>
                </a:solidFill>
              </a:rPr>
              <a:t>Persistir os resultados no PostgreSQL sem duplicação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F7F9FC"/>
                </a:solidFill>
              </a:rPr>
              <a:t>Orquestrar os dois pipelines em um workflow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F7F9FC"/>
                </a:solidFill>
              </a:rPr>
              <a:t>Consolidar os indicadores e exibir no dashboard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F7F9FC"/>
                </a:solidFill>
              </a:rPr>
              <a:t>Validar a reexecução com 0 duplicados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635240" y="1417320"/>
            <a:ext cx="3858768" cy="4251960"/>
          </a:xfrm>
          <a:prstGeom prst="roundRect">
            <a:avLst>
              <a:gd name="adj" fmla="val 2370"/>
            </a:avLst>
          </a:prstGeom>
          <a:solidFill>
            <a:srgbClr val="202733"/>
          </a:solidFill>
          <a:ln w="12700">
            <a:solidFill>
              <a:srgbClr val="323A4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7973568" y="175564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4CC9F0"/>
                </a:solidFill>
              </a:rPr>
              <a:t>Se perguntarem…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973568" y="2331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7F9FC"/>
                </a:solidFill>
              </a:rPr>
              <a:t>“Executar de novo duplica?”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73568" y="2670048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A7B0C0"/>
                </a:solidFill>
              </a:rPr>
              <a:t>Não. Usei UPSERT e validei 0 duplicados.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973568" y="33101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7F9FC"/>
                </a:solidFill>
              </a:rPr>
              <a:t>“Pipeline x Workflow?”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973568" y="3648456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A7B0C0"/>
                </a:solidFill>
              </a:rPr>
              <a:t>Pipeline processa dados. Workflow controla a sequência.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973568" y="42885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7F9FC"/>
                </a:solidFill>
              </a:rPr>
              <a:t>“Como validou?”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73568" y="4626864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A7B0C0"/>
                </a:solidFill>
              </a:rPr>
              <a:t>Logs do Hop + consultas no PostgreSQL + dashboard.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" y="59618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</a:rPr>
              <a:t>github.com/pvrezende/bike-sharing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9672"/>
            <a:ext cx="384048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8C96A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960120" y="4892040"/>
            <a:ext cx="5623560" cy="914400"/>
          </a:xfrm>
          <a:prstGeom prst="roundRect">
            <a:avLst/>
          </a:prstGeom>
          <a:solidFill>
            <a:srgbClr val="181D28"/>
          </a:solidFill>
          <a:ln w="15240">
            <a:solidFill>
              <a:srgbClr val="50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24712" y="5001768"/>
            <a:ext cx="529437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0D7EB"/>
                </a:solidFill>
                <a:latin typeface="Aptos"/>
              </a:rPr>
              <a:t>FALA GUIA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" y="5276088"/>
            <a:ext cx="5294376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“Para concluir: o fluxo ficou completo e validado. O Hop trata, o PostgreSQL persiste sem duplicar, o workflow orquestra e o dashboard apresenta os resultados.”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219456"/>
            <a:ext cx="1508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C3CAD6"/>
                </a:solidFill>
                <a:latin typeface="Aptos"/>
              </a:rPr>
              <a:t>use como lembrete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1443</Words>
  <Application>Microsoft Office PowerPoint</Application>
  <PresentationFormat>Widescreen</PresentationFormat>
  <Paragraphs>180</Paragraphs>
  <Slides>10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Bike Sharing - Apache Hop</dc:title>
  <dc:subject>Trabalho Final - Módulo 6 - Apache Hop</dc:subject>
  <dc:creator>Paulo Rezende</dc:creator>
  <cp:lastModifiedBy>Paulo Victor Rezende Virginio</cp:lastModifiedBy>
  <cp:revision>2</cp:revision>
  <dcterms:created xsi:type="dcterms:W3CDTF">2026-08-24T20:18:33Z</dcterms:created>
  <dcterms:modified xsi:type="dcterms:W3CDTF">2026-08-24T20:35:35Z</dcterms:modified>
</cp:coreProperties>
</file>